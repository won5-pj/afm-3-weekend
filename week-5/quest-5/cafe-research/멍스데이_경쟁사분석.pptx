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05840"/>
            <a:ext cx="3840480" cy="3840480"/>
          </a:xfrm>
          <a:prstGeom prst="ellipse">
            <a:avLst/>
          </a:prstGeom>
          <a:solidFill>
            <a:srgbClr val="3A3147"/>
          </a:solidFill>
          <a:ln w="12700">
            <a:solidFill>
              <a:srgbClr val="3A3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3291840"/>
            <a:ext cx="2377440" cy="2377440"/>
          </a:xfrm>
          <a:prstGeom prst="ellipse">
            <a:avLst/>
          </a:prstGeom>
          <a:solidFill>
            <a:srgbClr val="FF8A3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29800" y="1051560"/>
            <a:ext cx="1920240" cy="192024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29800" y="10515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00000"/>
                </a:solidFill>
              </a:rPr>
              <a:t>🐶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8A3D">
              <a:alpha val="16000"/>
            </a:srgbClr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B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멍스데이 · MONGSDAY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분석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548640" y="33101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CF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청라 반려동물 카페 시장 포지셔닝 &amp; 차별화 전략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82296" cy="566928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411480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B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“오늘은 우리 강아지가 주인공”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자료  </a:t>
            </a:r>
            <a:pPr indent="0" marL="0">
              <a:buNone/>
            </a:pPr>
            <a:r>
              <a:rPr lang="en-US" sz="1100" dirty="0">
                <a:solidFill>
                  <a:srgbClr val="CFC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my_cafe.md (카페 아이덴티티) · cafe-research/competitors.md (분석 프레임)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82712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9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· 카페 창업 전략 기획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시장 개요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청라·인천 반려동물 카페 시장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1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2542032" cy="109728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29968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8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3곳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85292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상권 내 직접 경쟁 반려동물 카페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46704" y="1645920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1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46704" y="1645920"/>
            <a:ext cx="2542032" cy="109728"/>
          </a:xfrm>
          <a:prstGeom prst="rect">
            <a:avLst/>
          </a:prstGeom>
          <a:solidFill>
            <a:srgbClr val="2B2438"/>
          </a:solidFill>
          <a:ln/>
        </p:spPr>
      </p:sp>
      <p:sp>
        <p:nvSpPr>
          <p:cNvPr id="10" name="Text 8"/>
          <p:cNvSpPr/>
          <p:nvPr/>
        </p:nvSpPr>
        <p:spPr>
          <a:xfrm>
            <a:off x="3483864" y="2029968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4,800원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529584" y="285292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평균 아메리카노 가격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44768" y="1645920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1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44768" y="1645920"/>
            <a:ext cx="2542032" cy="109728"/>
          </a:xfrm>
          <a:prstGeom prst="rect">
            <a:avLst/>
          </a:prstGeom>
          <a:solidFill>
            <a:srgbClr val="DC5B4B"/>
          </a:solidFill>
          <a:ln/>
        </p:spPr>
      </p:sp>
      <p:sp>
        <p:nvSpPr>
          <p:cNvPr id="14" name="Text 12"/>
          <p:cNvSpPr/>
          <p:nvPr/>
        </p:nvSpPr>
        <p:spPr>
          <a:xfrm>
            <a:off x="6281928" y="2029968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5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0곳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327648" y="285292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생일파티·이벤트 특화 카페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42832" y="1645920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1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42832" y="1645920"/>
            <a:ext cx="2542032" cy="109728"/>
          </a:xfrm>
          <a:prstGeom prst="rect">
            <a:avLst/>
          </a:prstGeom>
          <a:solidFill>
            <a:srgbClr val="159B6B"/>
          </a:solidFill>
          <a:ln/>
        </p:spPr>
      </p:sp>
      <p:sp>
        <p:nvSpPr>
          <p:cNvPr id="18" name="Text 16"/>
          <p:cNvSpPr/>
          <p:nvPr/>
        </p:nvSpPr>
        <p:spPr>
          <a:xfrm>
            <a:off x="9079992" y="2029968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9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대단지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125712" y="285292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청라 = 반려가구 밀집 상권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1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178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인사이트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599432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프리미엄(감성)·저가(프랜차이즈)·교외 대형으로 포지션이 파편화되어 있음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생일파티·이벤트 특화 카페가 없어 고부가 시장이 비어 있음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청결·냄새 관리는 리뷰 불만이 잦은 공통 약점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‘대형 + 도심 접근성 + 대중가’를 동시에 만족하는 곳이 없음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1996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경쟁사 구성·수치는 컨셉 검토용 예시입니다. 오픈 전 현장 리서치(상권 실사·SNS 지표)로 대체 권장.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멍스데이(Mongsday) · 청라 반려동물 카페 경쟁사 분석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08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경쟁사 비교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경쟁 구도</a:t>
            </a:r>
            <a:endParaRPr lang="en-US" sz="2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057400"/>
                <a:gridCol w="1051560"/>
                <a:gridCol w="868680"/>
                <a:gridCol w="1417320"/>
                <a:gridCol w="214884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상품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아메리카노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규모·운동장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43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그린독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(교외 대형)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초대형 야외 운동장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5,000원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6.8K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대형·야외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9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넓은 운동장·대형견 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접근성↓·실내 노후·생일파티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포포브런치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(감성)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감성 인테리어·브런치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5,500원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14.2K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중소·소형견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9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SNS 인지도·인테리어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협소·대형견 불가·고가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멍냥타운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(프랜차이즈)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저가·입장료형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4,000원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중형·실내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9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가성비·프랜차이즈 인지도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F3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차별성 낮음·펫베이커리 약함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4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멍스데이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4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(우리)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4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생일파티 성지 + 펫베이커리·브런치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4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4,500원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4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4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대형·운동장+주차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59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생일파티·청결·대형·대중가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C5B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브랜드 인지도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D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79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우리(멍스데이) 행은 강조 표시. 강점=녹색 · 약점=빨강.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068312" y="5779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경쟁사 구성·수치는 컨셉 검토용 예시입니다.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멍스데이(Mongsday) · 청라 반려동물 카페 경쟁사 분석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08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포지셔닝 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비어있는 자리를 차지한다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14400" y="1783080"/>
            <a:ext cx="74980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83080"/>
            <a:ext cx="3749040" cy="1943100"/>
          </a:xfrm>
          <a:prstGeom prst="rect">
            <a:avLst/>
          </a:prstGeom>
          <a:solidFill>
            <a:srgbClr val="FF8A3D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911096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19110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기회 공간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3726180"/>
            <a:ext cx="7498080" cy="0"/>
          </a:xfrm>
          <a:prstGeom prst="line">
            <a:avLst/>
          </a:prstGeom>
          <a:noFill/>
          <a:ln w="15875">
            <a:solidFill>
              <a:srgbClr val="B8AD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0" cy="3886200"/>
          </a:xfrm>
          <a:prstGeom prst="line">
            <a:avLst/>
          </a:prstGeom>
          <a:noFill/>
          <a:ln w="15875">
            <a:solidFill>
              <a:srgbClr val="B8AD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904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생일파티·이벤트 성지 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71500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단순 놀이터 중심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24128" y="37993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대중적 가격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08192" y="37993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프리미엄 ▶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83080" y="2331720"/>
            <a:ext cx="1188720" cy="1188720"/>
          </a:xfrm>
          <a:prstGeom prst="ellipse">
            <a:avLst/>
          </a:prstGeom>
          <a:solidFill>
            <a:srgbClr val="FF8A3D"/>
          </a:solidFill>
          <a:ln w="25400">
            <a:solidFill>
              <a:srgbClr val="E86F1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83080" y="23317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멍스데이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86500" y="2537460"/>
            <a:ext cx="1051560" cy="1051560"/>
          </a:xfrm>
          <a:prstGeom prst="ellipse">
            <a:avLst/>
          </a:prstGeom>
          <a:solidFill>
            <a:srgbClr val="9E93A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86500" y="25374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포포브런치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09260" y="4137660"/>
            <a:ext cx="960120" cy="960120"/>
          </a:xfrm>
          <a:prstGeom prst="ellipse">
            <a:avLst/>
          </a:prstGeom>
          <a:solidFill>
            <a:srgbClr val="9E93A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09260" y="41376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그린독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08860" y="4229100"/>
            <a:ext cx="960120" cy="960120"/>
          </a:xfrm>
          <a:prstGeom prst="ellipse">
            <a:avLst/>
          </a:prstGeom>
          <a:solidFill>
            <a:srgbClr val="9E93A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308860" y="42291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멍냥타운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23960" y="1783080"/>
            <a:ext cx="2816352" cy="3886200"/>
          </a:xfrm>
          <a:prstGeom prst="roundRect">
            <a:avLst>
              <a:gd name="adj" fmla="val 3247"/>
            </a:avLst>
          </a:prstGeom>
          <a:solidFill>
            <a:srgbClr val="2B243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079992" y="203911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비어있는 자리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79992" y="2560320"/>
            <a:ext cx="234086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AE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프리미엄·저가·교외 대형으로만 나뉜 시장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AE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‘대중가 + 생일파티 성지 + 청결’ 조합은 아무도 없음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AE2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멍스데이가 좌상단(대중가·이벤트 성지)을 선점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멍스데이(Mongsday) · 청라 반려동물 카페 경쟁사 분석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08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경쟁 구도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경쟁사마다 뚜렷한 빈틈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6432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CE1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822960" cy="822960"/>
          </a:xfrm>
          <a:prstGeom prst="ellipse">
            <a:avLst/>
          </a:prstGeom>
          <a:solidFill>
            <a:srgbClr val="FFE7D3"/>
          </a:solidFill>
          <a:ln w="12700">
            <a:solidFill>
              <a:srgbClr val="FFE7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842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🌳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2002536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그린독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40487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교외 대형 운동장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306324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9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pPr indent="0" marL="0">
              <a:buNone/>
            </a:pPr>
            <a:r>
              <a:rPr lang="en-US" sz="1250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운동장·대형견 OK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384048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C5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 </a:t>
            </a:r>
            <a:pPr indent="0" marL="0">
              <a:buNone/>
            </a:pPr>
            <a:r>
              <a:rPr lang="en-US" sz="1250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도심서 멀고 청결·생일파티 취약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0832" y="1691640"/>
            <a:ext cx="3456432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CE1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984248"/>
            <a:ext cx="822960" cy="822960"/>
          </a:xfrm>
          <a:prstGeom prst="ellipse">
            <a:avLst/>
          </a:prstGeom>
          <a:solidFill>
            <a:srgbClr val="FFE7D3"/>
          </a:solidFill>
          <a:ln w="12700">
            <a:solidFill>
              <a:srgbClr val="FFE7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9842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📸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05272" y="2002536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포포브런치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05272" y="240487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감성·SNS 강자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63440" y="306324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9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pPr indent="0" marL="0">
              <a:buNone/>
            </a:pPr>
            <a:r>
              <a:rPr lang="en-US" sz="1250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 인지도·인테리어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0" y="384048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C5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 </a:t>
            </a:r>
            <a:pPr indent="0" marL="0">
              <a:buNone/>
            </a:pPr>
            <a:r>
              <a:rPr lang="en-US" sz="1250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협소·대형견 불가·고가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93024" y="1691640"/>
            <a:ext cx="3456432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CE1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85632" y="1984248"/>
            <a:ext cx="822960" cy="822960"/>
          </a:xfrm>
          <a:prstGeom prst="ellipse">
            <a:avLst/>
          </a:prstGeom>
          <a:solidFill>
            <a:srgbClr val="FFE7D3"/>
          </a:solidFill>
          <a:ln w="12700">
            <a:solidFill>
              <a:srgbClr val="FFE7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5632" y="19842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🏷️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427464" y="2002536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멍냥타운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27464" y="240487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저가 프랜차이즈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85632" y="306324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9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 </a:t>
            </a:r>
            <a:pPr indent="0" marL="0">
              <a:buNone/>
            </a:pPr>
            <a:r>
              <a:rPr lang="en-US" sz="1250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가성비·인지도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85632" y="384048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C5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 </a:t>
            </a:r>
            <a:pPr indent="0" marL="0">
              <a:buNone/>
            </a:pPr>
            <a:r>
              <a:rPr lang="en-US" sz="1250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차별성 낮음·펫베이커리 약함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2B243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5257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대중가 · 대형 · 청결 · 생일파티를 </a:t>
            </a:r>
            <a:pPr indent="0" marL="0">
              <a:buNone/>
            </a:pPr>
            <a:r>
              <a:rPr lang="en-US" sz="1600" b="1" dirty="0">
                <a:solidFill>
                  <a:srgbClr val="FFB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만족하는 곳이 없다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=  멍스데이의 자리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멍스데이(Mongsday) · 청라 반려동물 카페 경쟁사 분석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08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차별화 포인트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멍스데이는 이게 다르다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4564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CE1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749808" cy="74980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700784" y="1920240"/>
            <a:ext cx="2130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생일파티 성지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276148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예약제 파티룸 · 수제케이크 · 포토존 · 파티데코 (경쟁사 미보유)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0832" y="1664208"/>
            <a:ext cx="34564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CE1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920240"/>
            <a:ext cx="749808" cy="74980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9202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🧼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5522976" y="1920240"/>
            <a:ext cx="2130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압도적 청결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45152" y="276148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발세척존 · 공조 · 소독 시스템을 눈에 보이게 → 털·냄새 걱정 해소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93024" y="1664208"/>
            <a:ext cx="34564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CE1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67344" y="1920240"/>
            <a:ext cx="749808" cy="74980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67344" y="19202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🐕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345168" y="1920240"/>
            <a:ext cx="2130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운동장 + 주차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467344" y="276148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부지와 주차로 인천 전역 원정 수요까지 흡수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455164" y="3950208"/>
            <a:ext cx="34564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CE1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29484" y="4206240"/>
            <a:ext cx="749808" cy="74980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29484" y="42062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🎂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3607308" y="4206240"/>
            <a:ext cx="2130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펫베이커리 + 브런치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729484" y="504748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강아지 케이크·간식 + 사람 브런치로 객단가·체류시간↑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77356" y="3950208"/>
            <a:ext cx="34564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CE1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51676" y="4206240"/>
            <a:ext cx="749808" cy="74980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1676" y="42062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</a:rPr>
              <a:t>💰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7429500" y="4206240"/>
            <a:ext cx="2130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대중적 가격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551676" y="504748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오는 동네카페 + 파티·케이크 부가매출로 마진 확보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멍스데이(Mongsday) · 청라 반려동물 카페 경쟁사 분석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08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추천 액션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로드맵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CE1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91640"/>
            <a:ext cx="548640" cy="54864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6642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생일파티 패키지 선점 마케팅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99339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달 생일견 견주 타깃 · 예약제 파티룸 런칭으로 핵심 차별점을 매출로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131552" y="173736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FE7D3"/>
          </a:solidFill>
          <a:ln/>
        </p:spPr>
      </p:sp>
      <p:sp>
        <p:nvSpPr>
          <p:cNvPr id="10" name="Text 8"/>
          <p:cNvSpPr/>
          <p:nvPr/>
        </p:nvSpPr>
        <p:spPr>
          <a:xfrm>
            <a:off x="10131552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6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59736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CE1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578608"/>
            <a:ext cx="548640" cy="54864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255117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초기 인스타 인지도 확보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288036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인플루언서·견주 커뮤니티 협업 + 생일파티 인증샷 UGC로 신규 브랜드 약점 보완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131552" y="2624328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FE7D3"/>
          </a:solidFill>
          <a:ln/>
        </p:spPr>
      </p:sp>
      <p:sp>
        <p:nvSpPr>
          <p:cNvPr id="17" name="Text 15"/>
          <p:cNvSpPr/>
          <p:nvPr/>
        </p:nvSpPr>
        <p:spPr>
          <a:xfrm>
            <a:off x="10131552" y="26243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6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0~3개월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46704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CE1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3465576"/>
            <a:ext cx="548640" cy="54864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465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08760" y="343814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청결 신뢰 가시화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376732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발세척존·소독 시스템 전면 노출 → 비반려인·아이 동반 가족까지 흡수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131552" y="3511296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FE7D3"/>
          </a:solidFill>
          <a:ln/>
        </p:spPr>
      </p:sp>
      <p:sp>
        <p:nvSpPr>
          <p:cNvPr id="24" name="Text 22"/>
          <p:cNvSpPr/>
          <p:nvPr/>
        </p:nvSpPr>
        <p:spPr>
          <a:xfrm>
            <a:off x="10131552" y="35112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6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시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233672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CE1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4352544"/>
            <a:ext cx="548640" cy="54864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352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508760" y="432511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운동장·주차 강조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508760" y="46542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‘넓고 주차되는 반려카페’로 인천 전역 원정 유치 (그린독 접근성 공략)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131552" y="4398264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FE7D3"/>
          </a:solidFill>
          <a:ln/>
        </p:spPr>
      </p:sp>
      <p:sp>
        <p:nvSpPr>
          <p:cNvPr id="31" name="Text 29"/>
          <p:cNvSpPr/>
          <p:nvPr/>
        </p:nvSpPr>
        <p:spPr>
          <a:xfrm>
            <a:off x="10131552" y="43982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6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120640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CE1D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9808" y="5239512"/>
            <a:ext cx="548640" cy="54864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5239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508760" y="52120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대중가 + 부가매출 구조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508760" y="554126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커피는 미끼, 케이크·파티로 마진 → 멍냥타운 가성비 방어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131552" y="5285232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FE7D3"/>
          </a:solidFill>
          <a:ln/>
        </p:spPr>
      </p:sp>
      <p:sp>
        <p:nvSpPr>
          <p:cNvPr id="38" name="Text 36"/>
          <p:cNvSpPr/>
          <p:nvPr/>
        </p:nvSpPr>
        <p:spPr>
          <a:xfrm>
            <a:off x="10131552" y="52852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6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멍스데이(Mongsday) · 청라 반려동물 카페 경쟁사 분석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08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206240"/>
            <a:ext cx="3840480" cy="3840480"/>
          </a:xfrm>
          <a:prstGeom prst="ellipse">
            <a:avLst/>
          </a:prstGeom>
          <a:solidFill>
            <a:srgbClr val="3A3147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280160"/>
            <a:ext cx="3291840" cy="3291840"/>
          </a:xfrm>
          <a:prstGeom prst="ellipse">
            <a:avLst/>
          </a:prstGeom>
          <a:solidFill>
            <a:srgbClr val="FF8A3D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4709160"/>
            <a:ext cx="1371600" cy="13716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5560" y="4709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🐾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F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9509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청라, 강아지 생일파티 성지.
</a:t>
            </a:r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FB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대중가로 자주 오고, 특별한 날 꼭 오는 카페.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3A3147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94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🎉 생일파티 성지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3794760"/>
            <a:ext cx="2432304" cy="548640"/>
          </a:xfrm>
          <a:prstGeom prst="roundRect">
            <a:avLst>
              <a:gd name="adj" fmla="val 50000"/>
            </a:avLst>
          </a:prstGeom>
          <a:solidFill>
            <a:srgbClr val="3A3147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79476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🧼 압도적 청결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1344" y="3794760"/>
            <a:ext cx="3090672" cy="548640"/>
          </a:xfrm>
          <a:prstGeom prst="roundRect">
            <a:avLst>
              <a:gd name="adj" fmla="val 50000"/>
            </a:avLst>
          </a:prstGeom>
          <a:solidFill>
            <a:srgbClr val="3A3147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1344" y="3794760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🐕 대형 운동장·주차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82296" cy="566928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8463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B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“오늘은 우리 강아지가 주인공”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멍스데이(Mongsday) · 인천 청라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멍스데이 경쟁사 분석</dc:title>
  <dc:subject>PptxGenJS Presentation</dc:subject>
  <dc:creator>멍스데이 창업기획</dc:creator>
  <cp:lastModifiedBy>멍스데이 창업기획</cp:lastModifiedBy>
  <cp:revision>1</cp:revision>
  <dcterms:created xsi:type="dcterms:W3CDTF">2026-07-10T16:50:01Z</dcterms:created>
  <dcterms:modified xsi:type="dcterms:W3CDTF">2026-07-10T16:50:01Z</dcterms:modified>
</cp:coreProperties>
</file>